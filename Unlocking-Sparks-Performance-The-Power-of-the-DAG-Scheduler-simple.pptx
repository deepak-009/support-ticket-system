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Montserrat Black"/>
      <p:regular r:id="rId12"/>
    </p:embeddedFont>
    <p:embeddedFont>
      <p:font typeface="Montserrat Black"/>
      <p:regular r:id="rId13"/>
    </p:embeddedFont>
    <p:embeddedFont>
      <p:font typeface="Inconsolata"/>
      <p:regular r:id="rId14"/>
    </p:embeddedFont>
    <p:embeddedFont>
      <p:font typeface="Inconsolata"/>
      <p:regular r:id="rId1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ns2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ns2:embed="rId1"/>
          <a:stretch>
            <a:fillRect/>
          </a:stretch>
        </p:blipFill>
        <p:spPr>
          <a:xfrm>
            <a:off x="9257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164199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Spark DAG Scheduler: Simple View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533947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How Spark plans work, splits stages, and runs tasks faster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ns2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ns2:embed="rId1"/>
          <a:stretch>
            <a:fillRect/>
          </a:stretch>
        </p:blipFill>
        <p:spPr>
          <a:xfrm>
            <a:off x="113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720090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What the DAG Scheduler Does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6280190" y="3186589"/>
            <a:ext cx="7556421" cy="2047994"/>
          </a:xfrm>
          <a:prstGeom prst="roundRect">
            <a:avLst>
              <a:gd name="adj" fmla="val 446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9210" dir="2700000">
              <a:srgbClr val="151617">
                <a:alpha val="10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514624" y="34210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Plans the Job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3911441"/>
            <a:ext cx="70875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It turns Spark transformations into an execution plan.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461397"/>
            <a:ext cx="7556421" cy="2047994"/>
          </a:xfrm>
          <a:prstGeom prst="roundRect">
            <a:avLst>
              <a:gd name="adj" fmla="val 446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9210" dir="2700000">
              <a:srgbClr val="151617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14624" y="5695831"/>
            <a:ext cx="28601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Real-Life Example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14624" y="6186249"/>
            <a:ext cx="70875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Think of a food delivery app: order first, restaurant next, driver last. Many orders move at the same time, but each order follows the right sequence.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87924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How Spark Builds the DAG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59110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7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714155"/>
            <a:ext cx="4196358" cy="3048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8884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Read the Code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378881"/>
            <a:ext cx="4196358" cy="1119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Spark reads transformations such as map, filter, and join.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3359110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7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714155"/>
            <a:ext cx="4196358" cy="3048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8884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Create the DAG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4378881"/>
            <a:ext cx="419635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It builds a graph of operations in the correct order, with no loops.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3359110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7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714155"/>
            <a:ext cx="4196358" cy="3048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8884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Split Into Stages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4378881"/>
            <a:ext cx="4196358" cy="2192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Operations that need a data shuffle start a new stage.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25034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Stages, Tasks, and Execution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96220"/>
            <a:ext cx="4196358" cy="3908227"/>
          </a:xfrm>
          <a:prstGeom prst="roundRect">
            <a:avLst>
              <a:gd name="adj" fmla="val 3743"/>
            </a:avLst>
          </a:prstGeom>
          <a:solidFill>
            <a:srgbClr val="F8ECE4"/>
          </a:solidFill>
          <a:ln w="3048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9210" dir="2700000">
              <a:srgbClr val="151617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63310" y="3096220"/>
            <a:ext cx="121920" cy="3908227"/>
          </a:xfrm>
          <a:prstGeom prst="roundRect">
            <a:avLst>
              <a:gd name="adj" fmla="val 7500"/>
            </a:avLst>
          </a:prstGeom>
          <a:solidFill>
            <a:srgbClr val="151617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3535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Stage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843933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 group of operations that can run together.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096220"/>
            <a:ext cx="4196358" cy="3908227"/>
          </a:xfrm>
          <a:prstGeom prst="roundRect">
            <a:avLst>
              <a:gd name="adj" fmla="val 3743"/>
            </a:avLst>
          </a:prstGeom>
          <a:solidFill>
            <a:srgbClr val="F8ECE4"/>
          </a:solidFill>
          <a:ln w="3048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9210" dir="2700000">
              <a:srgbClr val="151617">
                <a:alpha val="1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186482" y="3096220"/>
            <a:ext cx="121920" cy="3908227"/>
          </a:xfrm>
          <a:prstGeom prst="roundRect">
            <a:avLst>
              <a:gd name="adj" fmla="val 7500"/>
            </a:avLst>
          </a:prstGeom>
          <a:solidFill>
            <a:srgbClr val="151617"/>
          </a:solidFill>
          <a:ln/>
        </p:spPr>
      </p:sp>
      <p:sp>
        <p:nvSpPr>
          <p:cNvPr id="9" name="Text 7"/>
          <p:cNvSpPr/>
          <p:nvPr/>
        </p:nvSpPr>
        <p:spPr>
          <a:xfrm>
            <a:off x="5565696" y="33535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Task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65696" y="3843933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One unit of work that runs on a single data partition.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3096220"/>
            <a:ext cx="4196358" cy="3908227"/>
          </a:xfrm>
          <a:prstGeom prst="roundRect">
            <a:avLst>
              <a:gd name="adj" fmla="val 3743"/>
            </a:avLst>
          </a:prstGeom>
          <a:solidFill>
            <a:srgbClr val="F8ECE4"/>
          </a:solidFill>
          <a:ln w="3048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9210" dir="2700000">
              <a:srgbClr val="151617">
                <a:alpha val="10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609653" y="3096220"/>
            <a:ext cx="121920" cy="3908227"/>
          </a:xfrm>
          <a:prstGeom prst="roundRect">
            <a:avLst>
              <a:gd name="adj" fmla="val 7500"/>
            </a:avLst>
          </a:prstGeom>
          <a:solidFill>
            <a:srgbClr val="151617"/>
          </a:solidFill>
          <a:ln/>
        </p:spPr>
      </p:sp>
      <p:sp>
        <p:nvSpPr>
          <p:cNvPr id="13" name="Text 11"/>
          <p:cNvSpPr/>
          <p:nvPr/>
        </p:nvSpPr>
        <p:spPr>
          <a:xfrm>
            <a:off x="9988868" y="3353514"/>
            <a:ext cx="32063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Scheduler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88868" y="3843933"/>
            <a:ext cx="3590330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DAG Scheduler orders stages, then the Task Scheduler runs the tasks on executors.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ns2="http://schemas.openxmlformats.org/officeDocument/2006/relationships" xmlns:ns3="http://schemas.microsoft.com/office/drawing/2016/SVG/main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45231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Why the DAG Matters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ns2:embed="rId1">
            <a:extLst>
              <a:ext uri="{96DAC541-7B7A-43D3-8B79-37D633B846F1}">
                <ns3:svgBlip ns2:embed="rId2"/>
              </a:ext>
            </a:extLst>
          </a:blip>
          <a:stretch>
            <a:fillRect/>
          </a:stretch>
        </p:blipFill>
        <p:spPr>
          <a:xfrm>
            <a:off x="793790" y="3716417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37164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Speed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4206835"/>
            <a:ext cx="330815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Spark pipelines work inside a stage and reduce extra data movement.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ns2:embed="rId3">
            <a:extLst>
              <a:ext uri="{96DAC541-7B7A-43D3-8B79-37D633B846F1}">
                <ns3:svgBlip ns2:embed="rId4"/>
              </a:ext>
            </a:extLst>
          </a:blip>
          <a:stretch>
            <a:fillRect/>
          </a:stretch>
        </p:blipFill>
        <p:spPr>
          <a:xfrm>
            <a:off x="5235893" y="3716417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86356" y="37164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Recovery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086356" y="4206835"/>
            <a:ext cx="3308152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If a node fails, Spark rebuilds only the lost partitions by using lineage.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ns2:embed="rId5">
            <a:extLst>
              <a:ext uri="{96DAC541-7B7A-43D3-8B79-37D633B846F1}">
                <ns3:svgBlip ns2:embed="rId6"/>
              </a:ext>
            </a:extLst>
          </a:blip>
          <a:stretch>
            <a:fillRect/>
          </a:stretch>
        </p:blipFill>
        <p:spPr>
          <a:xfrm>
            <a:off x="9677995" y="3716417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28459" y="37164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Debugging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528459" y="4206835"/>
            <a:ext cx="330815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Spark UI shows the DAG, so bottlenecks are easier to find.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2026-04-27T05:04:35Z</dcterms:created>
  <dcterms:modified xsi:type="dcterms:W3CDTF">2026-04-27T05:04:35Z</dcterms:modified>
</cp:coreProperties>
</file>